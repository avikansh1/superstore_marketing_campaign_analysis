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Response rate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Recent + Web + High Value</c:v>
              </c:pt>
              <c:pt idx="1">
                <c:v>Recent + Catalog + High Value</c:v>
              </c:pt>
              <c:pt idx="2">
                <c:v>High-Value Active Catalog/Web</c:v>
              </c:pt>
              <c:pt idx="3">
                <c:v>Very High Income + Recent</c:v>
              </c:pt>
              <c:pt idx="4">
                <c:v>Overall Average</c:v>
              </c:pt>
            </c:strLit>
          </c:cat>
          <c:val>
            <c:numLit>
              <c:formatCode>0.0</c:formatCode>
              <c:ptCount val="5"/>
              <c:pt idx="0">
                <c:v>58.54</c:v>
              </c:pt>
              <c:pt idx="1">
                <c:v>54.29</c:v>
              </c:pt>
              <c:pt idx="2">
                <c:v>48.51</c:v>
              </c:pt>
              <c:pt idx="3">
                <c:v>35.979999999999997</c:v>
              </c:pt>
              <c:pt idx="4">
                <c:v>14.91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598-4EB2-999E-7876986A47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E5E7EB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B728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9525">
            <a:solidFill>
              <a:srgbClr val="E5E7EB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B556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ROC-AUC</c:v>
          </c:tx>
          <c:spPr>
            <a:solidFill>
              <a:srgbClr val="0F76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Logistic Regression</c:v>
              </c:pt>
              <c:pt idx="1">
                <c:v>Decision Tree</c:v>
              </c:pt>
              <c:pt idx="2">
                <c:v>Random Forest</c:v>
              </c:pt>
            </c:strLit>
          </c:cat>
          <c:val>
            <c:numLit>
              <c:formatCode>0.000</c:formatCode>
              <c:ptCount val="3"/>
              <c:pt idx="0">
                <c:v>0.85599999999999998</c:v>
              </c:pt>
              <c:pt idx="1">
                <c:v>0.77200000000000002</c:v>
              </c:pt>
              <c:pt idx="2">
                <c:v>0.90400000000000003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69-4E4E-AA76-59F90223C2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B728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E5E7EB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B556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Actual response rate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Full test</c:v>
              </c:pt>
              <c:pt idx="1">
                <c:v>Top 20%</c:v>
              </c:pt>
            </c:strLit>
          </c:cat>
          <c:val>
            <c:numLit>
              <c:formatCode>0.0</c:formatCode>
              <c:ptCount val="2"/>
              <c:pt idx="0">
                <c:v>14.96</c:v>
              </c:pt>
              <c:pt idx="1">
                <c:v>53.93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8D5-4523-BEEB-D3303F42C1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E5E7EB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B728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9525">
            <a:solidFill>
              <a:srgbClr val="E5E7EB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B556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  <a:p>
            <a:r>
              <a:t>- Model metrics and targeting lift were recalculated from the notebook feature set on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  <a:p>
            <a:r>
              <a:t>- Model metrics and targeting lift were recalculated from the notebook feature set on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Superstore Marketing Campaign dataset: D:/CapstoneProjects/SuperstoreMarketingCampaignAnalysis/superstore_campaign_analysis_ready.csv</a:t>
            </a:r>
          </a:p>
          <a:p>
            <a:r>
              <a:t>- Python notebook: C:/Users/Avikansh/OneDrive/Desktop/Capstone_Projects/SuperstoreMarketingCampaignProject/Superstore_Marketing_Campaign_Analysis_updated.ipynb</a:t>
            </a:r>
          </a:p>
          <a:p>
            <a:r>
              <a:t>- Power BI dashboard referenced in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A866D7-7DF7-435F-86D9-C75B5ADD3860}"/>
              </a:ext>
            </a:extLst>
          </p:cNvPr>
          <p:cNvSpPr>
            <a:spLocks noGrp="1"/>
          </p:cNvSpPr>
          <p:nvPr/>
        </p:nvSpPr>
        <p:spPr>
          <a:xfrm>
            <a:off x="390525" y="4000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buNone/>
              <a:def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Capstone Project | Superstore Marketing Campaign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D2099-F232-451E-960A-3ED0F3399EFA}"/>
              </a:ext>
            </a:extLst>
          </p:cNvPr>
          <p:cNvSpPr>
            <a:spLocks noGrp="1"/>
          </p:cNvSpPr>
          <p:nvPr/>
        </p:nvSpPr>
        <p:spPr>
          <a:xfrm>
            <a:off x="390525" y="1714500"/>
            <a:ext cx="9525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Superstore Marketing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A7C38-546C-42A2-8003-C2CC5E4CEBD5}"/>
              </a:ext>
            </a:extLst>
          </p:cNvPr>
          <p:cNvSpPr>
            <a:spLocks noGrp="1"/>
          </p:cNvSpPr>
          <p:nvPr/>
        </p:nvSpPr>
        <p:spPr>
          <a:xfrm>
            <a:off x="409575" y="4810125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41"/>
          </a:bodyPr>
          <a:lstStyle/>
          <a:p>
            <a:pPr algn="l">
              <a:buNone/>
              <a:def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 segmentation + response prediction + Power BI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0493A-CA1F-4B9F-9E77-6BA300548A42}"/>
              </a:ext>
            </a:extLst>
          </p:cNvPr>
          <p:cNvSpPr>
            <a:spLocks noGrp="1"/>
          </p:cNvSpPr>
          <p:nvPr/>
        </p:nvSpPr>
        <p:spPr>
          <a:xfrm>
            <a:off x="390525" y="5924550"/>
            <a:ext cx="457200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582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32DC08-2627-46B4-B0AC-944D0BAC8EA8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business problem is campaign targeting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4D3F9-663D-4A3C-ACE0-E00A7F512526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goal is to improve campaign efficiency by finding customers most likely to accept membership offers.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E2451-564F-4B6C-B945-AB946D2F6720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8917A4-2A9F-475B-894F-91D508C532DF}"/>
              </a:ext>
            </a:extLst>
          </p:cNvPr>
          <p:cNvSpPr>
            <a:spLocks noGrp="1"/>
          </p:cNvSpPr>
          <p:nvPr/>
        </p:nvSpPr>
        <p:spPr>
          <a:xfrm>
            <a:off x="390525" y="1823886"/>
            <a:ext cx="3562350" cy="29718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B8059-09D4-4CFC-96E2-FAC9A570EAA9}"/>
              </a:ext>
            </a:extLst>
          </p:cNvPr>
          <p:cNvSpPr>
            <a:spLocks noGrp="1"/>
          </p:cNvSpPr>
          <p:nvPr/>
        </p:nvSpPr>
        <p:spPr>
          <a:xfrm>
            <a:off x="657225" y="2147736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3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14.91%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E5EBB-6EA4-46EF-B14A-67A1948EC970}"/>
              </a:ext>
            </a:extLst>
          </p:cNvPr>
          <p:cNvSpPr>
            <a:spLocks noGrp="1"/>
          </p:cNvSpPr>
          <p:nvPr/>
        </p:nvSpPr>
        <p:spPr>
          <a:xfrm>
            <a:off x="657225" y="2985936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Overall response rate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F682C1-6B02-41B3-A32C-B06E22153F7B}"/>
              </a:ext>
            </a:extLst>
          </p:cNvPr>
          <p:cNvSpPr>
            <a:spLocks noGrp="1"/>
          </p:cNvSpPr>
          <p:nvPr/>
        </p:nvSpPr>
        <p:spPr>
          <a:xfrm>
            <a:off x="657225" y="3405036"/>
            <a:ext cx="30289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Only 334 of 2,240 customers accepted the campaign, so broad outreach wastes budget.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9B7B51-3CE4-4F8C-A47D-872684EAEE04}"/>
              </a:ext>
            </a:extLst>
          </p:cNvPr>
          <p:cNvSpPr>
            <a:spLocks noGrp="1"/>
          </p:cNvSpPr>
          <p:nvPr/>
        </p:nvSpPr>
        <p:spPr>
          <a:xfrm>
            <a:off x="4305300" y="1823886"/>
            <a:ext cx="3562350" cy="29718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54AAF0-C737-414B-82CC-FED79D6ADAB8}"/>
              </a:ext>
            </a:extLst>
          </p:cNvPr>
          <p:cNvSpPr>
            <a:spLocks noGrp="1"/>
          </p:cNvSpPr>
          <p:nvPr/>
        </p:nvSpPr>
        <p:spPr>
          <a:xfrm>
            <a:off x="4591050" y="2166786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Key decision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3863C-6074-486A-9B37-D541BEF83D1F}"/>
              </a:ext>
            </a:extLst>
          </p:cNvPr>
          <p:cNvSpPr>
            <a:spLocks noGrp="1"/>
          </p:cNvSpPr>
          <p:nvPr/>
        </p:nvSpPr>
        <p:spPr>
          <a:xfrm>
            <a:off x="4591050" y="2681136"/>
            <a:ext cx="2952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02"/>
          </a:bodyPr>
          <a:lstStyle/>
          <a:p>
            <a:pPr algn="l"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customer groups should marketing prioritize for the next campaign?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3989B-CEEC-410E-B93E-1031387A9D47}"/>
              </a:ext>
            </a:extLst>
          </p:cNvPr>
          <p:cNvSpPr>
            <a:spLocks noGrp="1"/>
          </p:cNvSpPr>
          <p:nvPr/>
        </p:nvSpPr>
        <p:spPr>
          <a:xfrm>
            <a:off x="4591050" y="4033686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KPI frame: response rate, customer count, average spend, high-value share.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7E245F-7783-4A3F-867A-559D33EFBAC5}"/>
              </a:ext>
            </a:extLst>
          </p:cNvPr>
          <p:cNvSpPr>
            <a:spLocks noGrp="1"/>
          </p:cNvSpPr>
          <p:nvPr/>
        </p:nvSpPr>
        <p:spPr>
          <a:xfrm>
            <a:off x="8229600" y="1823886"/>
            <a:ext cx="3562350" cy="29718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FE60E7-63D7-4C5F-A10A-12542ED2C11E}"/>
              </a:ext>
            </a:extLst>
          </p:cNvPr>
          <p:cNvSpPr>
            <a:spLocks noGrp="1"/>
          </p:cNvSpPr>
          <p:nvPr/>
        </p:nvSpPr>
        <p:spPr>
          <a:xfrm>
            <a:off x="8515350" y="2166786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Business questions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4C0F05-3033-4EEA-861F-3F13527AD3FB}"/>
              </a:ext>
            </a:extLst>
          </p:cNvPr>
          <p:cNvSpPr>
            <a:spLocks noGrp="1"/>
          </p:cNvSpPr>
          <p:nvPr/>
        </p:nvSpPr>
        <p:spPr>
          <a:xfrm>
            <a:off x="8515350" y="2700186"/>
            <a:ext cx="285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471" lnSpcReduction="10000"/>
          </a:bodyPr>
          <a:lstStyle/>
          <a:p>
            <a:pPr algn="l"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Who responds?</a:t>
            </a:r>
          </a:p>
          <a:p>
            <a:pPr algn="l"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behaviors matter?</a:t>
            </a:r>
          </a:p>
          <a:p>
            <a:pPr algn="l"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segments deserve budget?</a:t>
            </a:r>
          </a:p>
          <a:p>
            <a:pPr algn="l"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should the dashboard guide action?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6CE92-EC8E-4672-8BCF-6F85DFB9E86C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63917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149D887-CC12-4B9E-9E27-BB0B9DB6B2D9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workflow turns raw data into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1E3CC-4A81-41D6-B586-9DA1CB54C8D3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notebook and dashboard follow a business-first path instead of isolated Pandas practice.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1CE866-C65B-4C2A-A02F-947AADD86F6B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728D7-0228-49E9-A9CB-DB1557460DA7}"/>
              </a:ext>
            </a:extLst>
          </p:cNvPr>
          <p:cNvSpPr>
            <a:spLocks noGrp="1"/>
          </p:cNvSpPr>
          <p:nvPr/>
        </p:nvSpPr>
        <p:spPr>
          <a:xfrm>
            <a:off x="914400" y="2938016"/>
            <a:ext cx="102870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016AE5-C496-4945-A0FF-035F4F703B13}"/>
              </a:ext>
            </a:extLst>
          </p:cNvPr>
          <p:cNvSpPr>
            <a:spLocks noGrp="1"/>
          </p:cNvSpPr>
          <p:nvPr/>
        </p:nvSpPr>
        <p:spPr>
          <a:xfrm>
            <a:off x="390525" y="2061716"/>
            <a:ext cx="2057400" cy="1352550"/>
          </a:xfrm>
          <a:prstGeom prst="roundRect">
            <a:avLst>
              <a:gd name="adj" fmla="val 845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B2D9F-30AE-4109-994E-E3AB89481949}"/>
              </a:ext>
            </a:extLst>
          </p:cNvPr>
          <p:cNvSpPr>
            <a:spLocks noGrp="1"/>
          </p:cNvSpPr>
          <p:nvPr/>
        </p:nvSpPr>
        <p:spPr>
          <a:xfrm>
            <a:off x="561975" y="2214116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668038-8D40-44A3-A090-60CD97C79D33}"/>
              </a:ext>
            </a:extLst>
          </p:cNvPr>
          <p:cNvSpPr>
            <a:spLocks noGrp="1"/>
          </p:cNvSpPr>
          <p:nvPr/>
        </p:nvSpPr>
        <p:spPr>
          <a:xfrm>
            <a:off x="561975" y="2557016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38167-77F8-49E4-B760-D3B19EF76130}"/>
              </a:ext>
            </a:extLst>
          </p:cNvPr>
          <p:cNvSpPr>
            <a:spLocks noGrp="1"/>
          </p:cNvSpPr>
          <p:nvPr/>
        </p:nvSpPr>
        <p:spPr>
          <a:xfrm>
            <a:off x="485775" y="2938016"/>
            <a:ext cx="1771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72" lnSpcReduction="20000"/>
          </a:bodyPr>
          <a:lstStyle/>
          <a:p>
            <a:pPr algn="l">
              <a:buNone/>
              <a:defRPr sz="10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Check shape, types, missing values, duplicates.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8EEFCC-7768-45A5-BD8C-95ED0E92C803}"/>
              </a:ext>
            </a:extLst>
          </p:cNvPr>
          <p:cNvSpPr>
            <a:spLocks noGrp="1"/>
          </p:cNvSpPr>
          <p:nvPr/>
        </p:nvSpPr>
        <p:spPr>
          <a:xfrm>
            <a:off x="2733675" y="2061716"/>
            <a:ext cx="2057400" cy="1352550"/>
          </a:xfrm>
          <a:prstGeom prst="roundRect">
            <a:avLst>
              <a:gd name="adj" fmla="val 845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574D4-A671-4684-984C-F2FDBBB5D7DA}"/>
              </a:ext>
            </a:extLst>
          </p:cNvPr>
          <p:cNvSpPr>
            <a:spLocks noGrp="1"/>
          </p:cNvSpPr>
          <p:nvPr/>
        </p:nvSpPr>
        <p:spPr>
          <a:xfrm>
            <a:off x="2905125" y="2214116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276D7-4984-464E-97D8-17E06699CD83}"/>
              </a:ext>
            </a:extLst>
          </p:cNvPr>
          <p:cNvSpPr>
            <a:spLocks noGrp="1"/>
          </p:cNvSpPr>
          <p:nvPr/>
        </p:nvSpPr>
        <p:spPr>
          <a:xfrm>
            <a:off x="2905125" y="2557016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Engineer KPIs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3A800-9FD1-4681-A7A8-9CB76ADC13DE}"/>
              </a:ext>
            </a:extLst>
          </p:cNvPr>
          <p:cNvSpPr>
            <a:spLocks noGrp="1"/>
          </p:cNvSpPr>
          <p:nvPr/>
        </p:nvSpPr>
        <p:spPr>
          <a:xfrm>
            <a:off x="2809188" y="2938016"/>
            <a:ext cx="179138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72" lnSpcReduction="20000"/>
          </a:bodyPr>
          <a:lstStyle/>
          <a:p>
            <a:pPr algn="l">
              <a:buNone/>
              <a:defRPr sz="10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Create spend, age, tenure, channel, and segment fields.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02948D-5356-4189-97FF-CAE7FE235073}"/>
              </a:ext>
            </a:extLst>
          </p:cNvPr>
          <p:cNvSpPr>
            <a:spLocks noGrp="1"/>
          </p:cNvSpPr>
          <p:nvPr/>
        </p:nvSpPr>
        <p:spPr>
          <a:xfrm>
            <a:off x="5076825" y="2061716"/>
            <a:ext cx="2057400" cy="1352550"/>
          </a:xfrm>
          <a:prstGeom prst="roundRect">
            <a:avLst>
              <a:gd name="adj" fmla="val 845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715BC3-6125-4BD7-B441-424EAD30E8A3}"/>
              </a:ext>
            </a:extLst>
          </p:cNvPr>
          <p:cNvSpPr>
            <a:spLocks noGrp="1"/>
          </p:cNvSpPr>
          <p:nvPr/>
        </p:nvSpPr>
        <p:spPr>
          <a:xfrm>
            <a:off x="5248275" y="2214116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9261A6-78CA-4B43-AEA7-D3D99F4369C9}"/>
              </a:ext>
            </a:extLst>
          </p:cNvPr>
          <p:cNvSpPr>
            <a:spLocks noGrp="1"/>
          </p:cNvSpPr>
          <p:nvPr/>
        </p:nvSpPr>
        <p:spPr>
          <a:xfrm>
            <a:off x="5248275" y="2557016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6CA8D-09E0-4BDA-AA43-FA67EE98DDA3}"/>
              </a:ext>
            </a:extLst>
          </p:cNvPr>
          <p:cNvSpPr>
            <a:spLocks noGrp="1"/>
          </p:cNvSpPr>
          <p:nvPr/>
        </p:nvSpPr>
        <p:spPr>
          <a:xfrm>
            <a:off x="5148262" y="2833241"/>
            <a:ext cx="1914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0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Compare response by income, recency, channel, and household.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348163-79C7-4C5F-BC66-B4FE15A4C482}"/>
              </a:ext>
            </a:extLst>
          </p:cNvPr>
          <p:cNvSpPr>
            <a:spLocks noGrp="1"/>
          </p:cNvSpPr>
          <p:nvPr/>
        </p:nvSpPr>
        <p:spPr>
          <a:xfrm>
            <a:off x="7400336" y="2052191"/>
            <a:ext cx="2057400" cy="1352550"/>
          </a:xfrm>
          <a:prstGeom prst="roundRect">
            <a:avLst>
              <a:gd name="adj" fmla="val 845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120A77-EAD7-489A-9751-B29D52752050}"/>
              </a:ext>
            </a:extLst>
          </p:cNvPr>
          <p:cNvSpPr>
            <a:spLocks noGrp="1"/>
          </p:cNvSpPr>
          <p:nvPr/>
        </p:nvSpPr>
        <p:spPr>
          <a:xfrm>
            <a:off x="7591425" y="2214116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B4455F-416B-4670-99CE-90BA68EF24B4}"/>
              </a:ext>
            </a:extLst>
          </p:cNvPr>
          <p:cNvSpPr>
            <a:spLocks noGrp="1"/>
          </p:cNvSpPr>
          <p:nvPr/>
        </p:nvSpPr>
        <p:spPr>
          <a:xfrm>
            <a:off x="7521216" y="2557016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Segment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00C61-96E0-4D1C-AAD9-2D3087EA8303}"/>
              </a:ext>
            </a:extLst>
          </p:cNvPr>
          <p:cNvSpPr>
            <a:spLocks noGrp="1"/>
          </p:cNvSpPr>
          <p:nvPr/>
        </p:nvSpPr>
        <p:spPr>
          <a:xfrm>
            <a:off x="7579495" y="2871631"/>
            <a:ext cx="18199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72" lnSpcReduction="20000"/>
          </a:bodyPr>
          <a:lstStyle/>
          <a:p>
            <a:pPr algn="l">
              <a:buNone/>
              <a:defRPr sz="10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Translate patterns into targetable customer groups.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D6B65E-D535-48A1-99E5-CF74D5E2D26D}"/>
              </a:ext>
            </a:extLst>
          </p:cNvPr>
          <p:cNvSpPr>
            <a:spLocks noGrp="1"/>
          </p:cNvSpPr>
          <p:nvPr/>
        </p:nvSpPr>
        <p:spPr>
          <a:xfrm>
            <a:off x="9763125" y="2061716"/>
            <a:ext cx="2057400" cy="1352550"/>
          </a:xfrm>
          <a:prstGeom prst="roundRect">
            <a:avLst>
              <a:gd name="adj" fmla="val 845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07FCF4-3CE7-4087-A764-03C925BCED64}"/>
              </a:ext>
            </a:extLst>
          </p:cNvPr>
          <p:cNvSpPr>
            <a:spLocks noGrp="1"/>
          </p:cNvSpPr>
          <p:nvPr/>
        </p:nvSpPr>
        <p:spPr>
          <a:xfrm>
            <a:off x="9934575" y="2214116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CA4731-56B0-47D2-AE7A-E052A529FEDC}"/>
              </a:ext>
            </a:extLst>
          </p:cNvPr>
          <p:cNvSpPr>
            <a:spLocks noGrp="1"/>
          </p:cNvSpPr>
          <p:nvPr/>
        </p:nvSpPr>
        <p:spPr>
          <a:xfrm>
            <a:off x="9934575" y="2557016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5E3ED9-4472-40EA-B092-D8ECDB8CBD63}"/>
              </a:ext>
            </a:extLst>
          </p:cNvPr>
          <p:cNvSpPr>
            <a:spLocks noGrp="1"/>
          </p:cNvSpPr>
          <p:nvPr/>
        </p:nvSpPr>
        <p:spPr>
          <a:xfrm>
            <a:off x="9851010" y="2938016"/>
            <a:ext cx="177901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72" lnSpcReduction="20000"/>
          </a:bodyPr>
          <a:lstStyle/>
          <a:p>
            <a:pPr algn="l">
              <a:buNone/>
              <a:defRPr sz="108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Prioritize campaigns using response and value signals.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0FF897-759F-4775-9E38-02A1B17C4484}"/>
              </a:ext>
            </a:extLst>
          </p:cNvPr>
          <p:cNvSpPr>
            <a:spLocks noGrp="1"/>
          </p:cNvSpPr>
          <p:nvPr/>
        </p:nvSpPr>
        <p:spPr>
          <a:xfrm>
            <a:off x="395922" y="4600771"/>
            <a:ext cx="10805478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6612CF-282A-4878-8463-A2177E209D4C}"/>
              </a:ext>
            </a:extLst>
          </p:cNvPr>
          <p:cNvSpPr>
            <a:spLocks noGrp="1"/>
          </p:cNvSpPr>
          <p:nvPr/>
        </p:nvSpPr>
        <p:spPr>
          <a:xfrm>
            <a:off x="681671" y="4716102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97" lnSpcReduction="20000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Feature engineering used for decisions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D2E6C6-7F23-4931-AA14-24F22C9A3400}"/>
              </a:ext>
            </a:extLst>
          </p:cNvPr>
          <p:cNvSpPr>
            <a:spLocks noGrp="1"/>
          </p:cNvSpPr>
          <p:nvPr/>
        </p:nvSpPr>
        <p:spPr>
          <a:xfrm>
            <a:off x="681671" y="4982802"/>
            <a:ext cx="1037596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66" lnSpcReduction="10000"/>
          </a:bodyPr>
          <a:lstStyle/>
          <a:p>
            <a:pPr algn="l">
              <a:buNone/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Total spend, total purchases, discount purchase rate, spend per purchase, customer tenure, age group, income bracket, recency group, preferred channel, high-value flag, and customer segment.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F5BB32-9E6F-4332-BAAA-FF82B572AE98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0879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4C5CAA5-8A4E-4AA3-A3B6-8E94BAA1F41A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signals explain the campaign opportunity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36130-D92A-48D6-A70C-3E994E16FB05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Response is strongest when customer value, recent engagement, and preferred buying channel line up.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C4600A-2DDE-4F1F-AF37-65EF09B38D9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CBFCC5-5321-46EF-A28E-A479D51C0469}"/>
              </a:ext>
            </a:extLst>
          </p:cNvPr>
          <p:cNvSpPr>
            <a:spLocks noGrp="1"/>
          </p:cNvSpPr>
          <p:nvPr/>
        </p:nvSpPr>
        <p:spPr>
          <a:xfrm>
            <a:off x="390525" y="2857500"/>
            <a:ext cx="3562350" cy="228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EC263-C9D0-4739-A986-C226906E4139}"/>
              </a:ext>
            </a:extLst>
          </p:cNvPr>
          <p:cNvSpPr>
            <a:spLocks noGrp="1"/>
          </p:cNvSpPr>
          <p:nvPr/>
        </p:nvSpPr>
        <p:spPr>
          <a:xfrm>
            <a:off x="657225" y="318135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26.61%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D4541-5581-4F71-97B0-B64395340975}"/>
              </a:ext>
            </a:extLst>
          </p:cNvPr>
          <p:cNvSpPr>
            <a:spLocks noGrp="1"/>
          </p:cNvSpPr>
          <p:nvPr/>
        </p:nvSpPr>
        <p:spPr>
          <a:xfrm>
            <a:off x="657225" y="40195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Very high income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756F9-5E8A-4EF3-B724-78CE273BD141}"/>
              </a:ext>
            </a:extLst>
          </p:cNvPr>
          <p:cNvSpPr>
            <a:spLocks noGrp="1"/>
          </p:cNvSpPr>
          <p:nvPr/>
        </p:nvSpPr>
        <p:spPr>
          <a:xfrm>
            <a:off x="657225" y="44386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Customers in the top income bracket respond at nearly 1.8x the overall average.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DA6732-EACF-41A7-9E8E-C45F0222A64F}"/>
              </a:ext>
            </a:extLst>
          </p:cNvPr>
          <p:cNvSpPr>
            <a:spLocks noGrp="1"/>
          </p:cNvSpPr>
          <p:nvPr/>
        </p:nvSpPr>
        <p:spPr>
          <a:xfrm>
            <a:off x="4305300" y="2857500"/>
            <a:ext cx="3562350" cy="228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4EDAC-2F2F-4E7B-B4BD-23FC47BDC4E5}"/>
              </a:ext>
            </a:extLst>
          </p:cNvPr>
          <p:cNvSpPr>
            <a:spLocks noGrp="1"/>
          </p:cNvSpPr>
          <p:nvPr/>
        </p:nvSpPr>
        <p:spPr>
          <a:xfrm>
            <a:off x="4572000" y="318135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23.90%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151B9F-D751-4A19-A0A5-694A31DC273F}"/>
              </a:ext>
            </a:extLst>
          </p:cNvPr>
          <p:cNvSpPr>
            <a:spLocks noGrp="1"/>
          </p:cNvSpPr>
          <p:nvPr/>
        </p:nvSpPr>
        <p:spPr>
          <a:xfrm>
            <a:off x="4572000" y="40195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Recent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20956-ED96-413A-AAF8-094F15C0B784}"/>
              </a:ext>
            </a:extLst>
          </p:cNvPr>
          <p:cNvSpPr>
            <a:spLocks noGrp="1"/>
          </p:cNvSpPr>
          <p:nvPr/>
        </p:nvSpPr>
        <p:spPr>
          <a:xfrm>
            <a:off x="4572000" y="44386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Customers with lower recency are much more likely to accept the campaign.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D15FF0-C2C0-41A0-AA20-9388B329F35F}"/>
              </a:ext>
            </a:extLst>
          </p:cNvPr>
          <p:cNvSpPr>
            <a:spLocks noGrp="1"/>
          </p:cNvSpPr>
          <p:nvPr/>
        </p:nvSpPr>
        <p:spPr>
          <a:xfrm>
            <a:off x="8229600" y="2857500"/>
            <a:ext cx="3562350" cy="2286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FF7E3-7047-4B15-861B-972F8C169E08}"/>
              </a:ext>
            </a:extLst>
          </p:cNvPr>
          <p:cNvSpPr>
            <a:spLocks noGrp="1"/>
          </p:cNvSpPr>
          <p:nvPr/>
        </p:nvSpPr>
        <p:spPr>
          <a:xfrm>
            <a:off x="8496300" y="318135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l">
              <a:buNone/>
              <a:def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35.62%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7FBF0-E19F-453F-A8BA-4DA510A6F649}"/>
              </a:ext>
            </a:extLst>
          </p:cNvPr>
          <p:cNvSpPr>
            <a:spLocks noGrp="1"/>
          </p:cNvSpPr>
          <p:nvPr/>
        </p:nvSpPr>
        <p:spPr>
          <a:xfrm>
            <a:off x="8496300" y="40195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Catalog shoppers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21F022-CBE4-4C57-9B5B-260D6A5A8896}"/>
              </a:ext>
            </a:extLst>
          </p:cNvPr>
          <p:cNvSpPr>
            <a:spLocks noGrp="1"/>
          </p:cNvSpPr>
          <p:nvPr/>
        </p:nvSpPr>
        <p:spPr>
          <a:xfrm>
            <a:off x="8496300" y="44386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Catalog is the strongest purchase channel signal for campaign acceptance.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C9F04-B129-4480-AA2B-9AAD67712FC1}"/>
              </a:ext>
            </a:extLst>
          </p:cNvPr>
          <p:cNvSpPr>
            <a:spLocks noGrp="1"/>
          </p:cNvSpPr>
          <p:nvPr/>
        </p:nvSpPr>
        <p:spPr>
          <a:xfrm>
            <a:off x="390525" y="1790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Meaning for the business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11CA71-A701-4F8A-A982-4560FBE67DFF}"/>
              </a:ext>
            </a:extLst>
          </p:cNvPr>
          <p:cNvSpPr>
            <a:spLocks noGrp="1"/>
          </p:cNvSpPr>
          <p:nvPr/>
        </p:nvSpPr>
        <p:spPr>
          <a:xfrm>
            <a:off x="390525" y="2143125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320" lnSpcReduction="20000"/>
          </a:bodyPr>
          <a:lstStyle/>
          <a:p>
            <a:pPr algn="l">
              <a:buNone/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next campaign should not treat every customer equally. The data points toward a smaller, higher-probability audience where response likelihood compounds.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43FD73-4703-4572-972E-88952EA22427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67642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06050B-0E0B-4401-9CE9-3DC627F6A914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Combined signals reveal the strongest target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94E1D-0AC3-4E81-BB33-0F103AA812D3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Recent high-value Web and Catalog customers respond at more than three times the overall average.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43772-A378-4CDA-A1C3-406490F97C69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B737D-6228-4260-BBB4-85C48A88247C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 lnSpcReduction="1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Response rate by target audience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3244414927"/>
              </p:ext>
            </p:extLst>
          </p:nvPr>
        </p:nvGraphicFramePr>
        <p:xfrm>
          <a:off x="476250" y="1866900"/>
          <a:ext cx="5905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675023E-EE97-43D6-9D46-6F058276FB8E}"/>
              </a:ext>
            </a:extLst>
          </p:cNvPr>
          <p:cNvSpPr>
            <a:spLocks noGrp="1"/>
          </p:cNvSpPr>
          <p:nvPr/>
        </p:nvSpPr>
        <p:spPr>
          <a:xfrm>
            <a:off x="5048250" y="5410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Response rate (%)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76E728-A03E-43E3-AD58-9B1B1E223032}"/>
              </a:ext>
            </a:extLst>
          </p:cNvPr>
          <p:cNvSpPr>
            <a:spLocks noGrp="1"/>
          </p:cNvSpPr>
          <p:nvPr/>
        </p:nvSpPr>
        <p:spPr>
          <a:xfrm>
            <a:off x="7096125" y="1952625"/>
            <a:ext cx="4191000" cy="2714625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E3C1B-AB45-476D-B42A-9B89516E7194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 lnSpcReduction="10000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Best audience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6275E1-1695-4C06-8240-0B202A22720F}"/>
              </a:ext>
            </a:extLst>
          </p:cNvPr>
          <p:cNvSpPr>
            <a:spLocks noGrp="1"/>
          </p:cNvSpPr>
          <p:nvPr/>
        </p:nvSpPr>
        <p:spPr>
          <a:xfrm>
            <a:off x="7381875" y="2781300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747" lnSpcReduction="10000"/>
          </a:bodyPr>
          <a:lstStyle/>
          <a:p>
            <a:pPr algn="l">
              <a:buNone/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58.54%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64239-FB01-4E90-B28D-D20F77531658}"/>
              </a:ext>
            </a:extLst>
          </p:cNvPr>
          <p:cNvSpPr>
            <a:spLocks noGrp="1"/>
          </p:cNvSpPr>
          <p:nvPr/>
        </p:nvSpPr>
        <p:spPr>
          <a:xfrm>
            <a:off x="7381875" y="3562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Recent + Web + High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C71EB-E75B-40B6-9EE3-F39BEA83FA82}"/>
              </a:ext>
            </a:extLst>
          </p:cNvPr>
          <p:cNvSpPr>
            <a:spLocks noGrp="1"/>
          </p:cNvSpPr>
          <p:nvPr/>
        </p:nvSpPr>
        <p:spPr>
          <a:xfrm>
            <a:off x="7381875" y="40957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314" lnSpcReduction="10000"/>
          </a:bodyPr>
          <a:lstStyle/>
          <a:p>
            <a:pPr algn="l">
              <a:buNone/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This segment is small, but it is the cleanest starting point for a high-efficiency test campaign.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D98E2-B372-4029-8A70-4962B7B489D4}"/>
              </a:ext>
            </a:extLst>
          </p:cNvPr>
          <p:cNvSpPr>
            <a:spLocks noGrp="1"/>
          </p:cNvSpPr>
          <p:nvPr/>
        </p:nvSpPr>
        <p:spPr>
          <a:xfrm>
            <a:off x="7381875" y="49530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Baseline response: 14.91%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DE61F-654E-4825-9CDC-94330740C7ED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46531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687290-B48A-4C0A-AD28-0752C972B19F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Segments translate analysis into campaign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2301F5-CD58-4148-A7D2-B5CC0B863F9E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Each segment ties customer behavior to a practical next step for marketing.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CB440-C366-4943-B8B3-BF5D828E1AB4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390525" y="1952625"/>
          <a:ext cx="11401424" cy="3476627"/>
        </p:xfrm>
        <a:graphic>
          <a:graphicData uri="http://schemas.openxmlformats.org/drawingml/2006/table">
            <a:tbl>
              <a:tblPr firstRow="1" bandRow="1"/>
              <a:tblGrid>
                <a:gridCol w="3774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9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Segment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Avg Spend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Campaign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High-Value Active Catalog/Web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1,479.61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Prioritize premium offers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Catalog Shoppers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22.00%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679.04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Catalog-led follow-up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1,025.71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Personalized test campaign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High-Value At-Risk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20.54%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1,498.65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Win-back offer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Digital Shoppers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356.93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Web/email promotion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Bargain Hunters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8.71%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Low-cost offer only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9304700-9891-48EE-94ED-941AB9F221F2}"/>
              </a:ext>
            </a:extLst>
          </p:cNvPr>
          <p:cNvSpPr>
            <a:spLocks noGrp="1"/>
          </p:cNvSpPr>
          <p:nvPr/>
        </p:nvSpPr>
        <p:spPr>
          <a:xfrm>
            <a:off x="581025" y="56388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12" lnSpcReduction="10000"/>
          </a:bodyPr>
          <a:lstStyle/>
          <a:p>
            <a:pPr algn="l">
              <a:buNone/>
              <a:def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48.51%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C2DD2-5FF4-454E-87A1-50AD12D686BC}"/>
              </a:ext>
            </a:extLst>
          </p:cNvPr>
          <p:cNvSpPr>
            <a:spLocks noGrp="1"/>
          </p:cNvSpPr>
          <p:nvPr/>
        </p:nvSpPr>
        <p:spPr>
          <a:xfrm>
            <a:off x="581025" y="60769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Top segment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85DF7-F554-449F-A542-4FC76EC81E40}"/>
              </a:ext>
            </a:extLst>
          </p:cNvPr>
          <p:cNvSpPr>
            <a:spLocks noGrp="1"/>
          </p:cNvSpPr>
          <p:nvPr/>
        </p:nvSpPr>
        <p:spPr>
          <a:xfrm>
            <a:off x="3286125" y="56388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12" lnSpcReduction="10000"/>
          </a:bodyPr>
          <a:lstStyle/>
          <a:p>
            <a:pPr algn="l">
              <a:buNone/>
              <a:def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1,479.61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6BA73-B09D-4E19-B97F-A36C0824AED1}"/>
              </a:ext>
            </a:extLst>
          </p:cNvPr>
          <p:cNvSpPr>
            <a:spLocks noGrp="1"/>
          </p:cNvSpPr>
          <p:nvPr/>
        </p:nvSpPr>
        <p:spPr>
          <a:xfrm>
            <a:off x="3286125" y="60769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Avg spend in top segment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43BFB-C3D1-4B9E-8EDE-C3FF825C5C4A}"/>
              </a:ext>
            </a:extLst>
          </p:cNvPr>
          <p:cNvSpPr>
            <a:spLocks noGrp="1"/>
          </p:cNvSpPr>
          <p:nvPr/>
        </p:nvSpPr>
        <p:spPr>
          <a:xfrm>
            <a:off x="6096000" y="57150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630" lnSpcReduction="10000"/>
          </a:bodyPr>
          <a:lstStyle/>
          <a:p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the segment table as a campaign priority list: protect budget for high-response, high-spend groups first.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38678-517B-4990-BBC2-CC4CD0824C6D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99430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E8E6C01-3245-4D37-B9A6-DEEFBC7B0BB9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supports targeted outreach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B6810-3031-4B8D-AF21-615B1306D3CA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Because the response class is imbalanced, ROC-AUC, recall, precision, and F1 matter more than accuracy alone.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1BE433-AC91-4F04-B47F-38E878C39B67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590550" y="1809750"/>
          <a:ext cx="4953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DD654-7601-4AFD-AF98-268AD520C739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781550" cy="2952750"/>
          </a:xfrm>
          <a:prstGeom prst="roundRect">
            <a:avLst>
              <a:gd name="adj" fmla="val 387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305B0-FCE7-4960-9AC3-13DFD50F9C47}"/>
              </a:ext>
            </a:extLst>
          </p:cNvPr>
          <p:cNvSpPr>
            <a:spLocks noGrp="1"/>
          </p:cNvSpPr>
          <p:nvPr/>
        </p:nvSpPr>
        <p:spPr>
          <a:xfrm>
            <a:off x="6800850" y="2190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Best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30BA-6F09-4C39-8F69-FDC756218EC5}"/>
              </a:ext>
            </a:extLst>
          </p:cNvPr>
          <p:cNvSpPr>
            <a:spLocks noGrp="1"/>
          </p:cNvSpPr>
          <p:nvPr/>
        </p:nvSpPr>
        <p:spPr>
          <a:xfrm>
            <a:off x="6800850" y="264795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82"/>
          </a:bodyPr>
          <a:lstStyle/>
          <a:p>
            <a:pPr algn="l">
              <a:buNone/>
              <a:defRPr sz="28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846C31-185E-4811-B3FC-9AD797192743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23812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Accuracy 0.879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Precision 0.623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Recall 0.493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F1-score 0.550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ROC-AUC 0.904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82EC6-4AC1-43ED-95FC-9B35B30EB385}"/>
              </a:ext>
            </a:extLst>
          </p:cNvPr>
          <p:cNvSpPr>
            <a:spLocks noGrp="1"/>
          </p:cNvSpPr>
          <p:nvPr/>
        </p:nvSpPr>
        <p:spPr>
          <a:xfrm>
            <a:off x="9391650" y="3314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 lnSpcReduction="1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0231B9-D55B-4CB7-8718-9E1DE229F98C}"/>
              </a:ext>
            </a:extLst>
          </p:cNvPr>
          <p:cNvSpPr>
            <a:spLocks noGrp="1"/>
          </p:cNvSpPr>
          <p:nvPr/>
        </p:nvSpPr>
        <p:spPr>
          <a:xfrm>
            <a:off x="9391650" y="365760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265" lnSpcReduction="20000"/>
          </a:bodyPr>
          <a:lstStyle/>
          <a:p>
            <a:pPr algn="l">
              <a:buNone/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model is useful for ranking customers by likelihood, then sending targeted campaigns to the highest-scoring groups.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6DAB7-9D84-422F-9B2B-09DA06FF9E83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Python notebook model evaluation output</a:t>
            </a:r>
          </a:p>
        </p:txBody>
      </p:sp>
    </p:spTree>
    <p:extLst>
      <p:ext uri="{BB962C8B-B14F-4D97-AF65-F5344CB8AC3E}">
        <p14:creationId xmlns:p14="http://schemas.microsoft.com/office/powerpoint/2010/main" val="187732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06050B-0E0B-4401-9CE9-3DC627F6A914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 scoring lifts response in the top 20%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94E1D-0AC3-4E81-BB33-0F103AA812D3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Ranking unseen test customers by predicted probability concentrates actual responders.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43772-A378-4CDA-A1C3-406490F97C69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B737D-6228-4260-BBB4-85C48A88247C}"/>
              </a:ext>
            </a:extLst>
          </p:cNvPr>
          <p:cNvSpPr>
            <a:spLocks noGrp="1"/>
          </p:cNvSpPr>
          <p:nvPr/>
        </p:nvSpPr>
        <p:spPr>
          <a:xfrm>
            <a:off x="476250" y="1562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 lnSpcReduction="1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Actual response rate by targeting approach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76250" y="1905000"/>
          <a:ext cx="5905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675023E-EE97-43D6-9D46-6F058276FB8E}"/>
              </a:ext>
            </a:extLst>
          </p:cNvPr>
          <p:cNvSpPr>
            <a:spLocks noGrp="1"/>
          </p:cNvSpPr>
          <p:nvPr/>
        </p:nvSpPr>
        <p:spPr>
          <a:xfrm>
            <a:off x="5048250" y="5410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Actual response rate (%)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76E728-A03E-43E3-AD58-9B1B1E223032}"/>
              </a:ext>
            </a:extLst>
          </p:cNvPr>
          <p:cNvSpPr>
            <a:spLocks noGrp="1"/>
          </p:cNvSpPr>
          <p:nvPr/>
        </p:nvSpPr>
        <p:spPr>
          <a:xfrm>
            <a:off x="7096125" y="1952625"/>
            <a:ext cx="4191000" cy="2714625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E3C1B-AB45-476D-B42A-9B89516E7194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97" lnSpcReduction="10000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Targeting lift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6275E1-1695-4C06-8240-0B202A22720F}"/>
              </a:ext>
            </a:extLst>
          </p:cNvPr>
          <p:cNvSpPr>
            <a:spLocks noGrp="1"/>
          </p:cNvSpPr>
          <p:nvPr/>
        </p:nvSpPr>
        <p:spPr>
          <a:xfrm>
            <a:off x="7381875" y="2781300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747" lnSpcReduction="10000"/>
          </a:bodyPr>
          <a:lstStyle/>
          <a:p>
            <a:pPr algn="l">
              <a:buNone/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3.61x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64239-FB01-4E90-B28D-D20F77531658}"/>
              </a:ext>
            </a:extLst>
          </p:cNvPr>
          <p:cNvSpPr>
            <a:spLocks noGrp="1"/>
          </p:cNvSpPr>
          <p:nvPr/>
        </p:nvSpPr>
        <p:spPr>
          <a:xfrm>
            <a:off x="7381875" y="3562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Top 20% predicted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C71EB-E75B-40B6-9EE3-F39BEA83FA82}"/>
              </a:ext>
            </a:extLst>
          </p:cNvPr>
          <p:cNvSpPr>
            <a:spLocks noGrp="1"/>
          </p:cNvSpPr>
          <p:nvPr/>
        </p:nvSpPr>
        <p:spPr>
          <a:xfrm>
            <a:off x="7381875" y="40957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314" lnSpcReduction="10000"/>
          </a:bodyPr>
          <a:lstStyle/>
          <a:p>
            <a:pPr algn="l">
              <a:buNone/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model selected 89 of 448 test customers and captured a much higher actual response rate.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D98E2-B372-4029-8A70-4962B7B489D4}"/>
              </a:ext>
            </a:extLst>
          </p:cNvPr>
          <p:cNvSpPr>
            <a:spLocks noGrp="1"/>
          </p:cNvSpPr>
          <p:nvPr/>
        </p:nvSpPr>
        <p:spPr>
          <a:xfrm>
            <a:off x="7381875" y="49530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15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Full test baseline: 14.96%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DE61F-654E-4825-9CDC-94330740C7ED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46531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5E0E00-1E8C-4D5D-ABB7-FB545BD09F8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dashboard makes the recommendation actionable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B54537-2082-4845-A82C-0865831D0445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Power BI turns the notebook findings into an executive view for filtering, explaining, and prioritizing campaign audiences.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F68C3-2E71-4A37-9EAF-F4F628DF812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2688" y="1714500"/>
            <a:ext cx="7286625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B90075-7B44-453A-93C0-B1155AB95F79}"/>
              </a:ext>
            </a:extLst>
          </p:cNvPr>
          <p:cNvSpPr>
            <a:spLocks noGrp="1"/>
          </p:cNvSpPr>
          <p:nvPr/>
        </p:nvSpPr>
        <p:spPr>
          <a:xfrm>
            <a:off x="790575" y="59245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l">
              <a:buNone/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Dashboard view: campaign KPIs, response drivers, and segment performance summary.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A2BCD-6C07-4224-AD9F-F8071D2FB3F9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Power BI dashboard file SuperStorePowerBiProject_AutoDashboard.pbix</a:t>
            </a:r>
          </a:p>
        </p:txBody>
      </p:sp>
      <p:sp>
        <p:nvSpPr>
          <p:cNvPr id="9" name="dashboard-title-correction-cover">
            <a:extLst>
              <a:ext uri="{FF2B5EF4-FFF2-40B4-BE49-F238E27FC236}">
                <a16:creationId xmlns:a16="http://schemas.microsoft.com/office/drawing/2014/main" id="{7D411E1E-6FD7-4398-802B-BEBFF960044C}"/>
              </a:ext>
            </a:extLst>
          </p:cNvPr>
          <p:cNvSpPr>
            <a:spLocks noGrp="1"/>
          </p:cNvSpPr>
          <p:nvPr/>
        </p:nvSpPr>
        <p:spPr>
          <a:xfrm>
            <a:off x="3381375" y="1771650"/>
            <a:ext cx="5429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dashboard-title-correction">
            <a:extLst>
              <a:ext uri="{FF2B5EF4-FFF2-40B4-BE49-F238E27FC236}">
                <a16:creationId xmlns:a16="http://schemas.microsoft.com/office/drawing/2014/main" id="{6E03AD4A-80A6-4BCB-812F-457582A1952C}"/>
              </a:ext>
            </a:extLst>
          </p:cNvPr>
          <p:cNvSpPr>
            <a:spLocks noGrp="1"/>
          </p:cNvSpPr>
          <p:nvPr/>
        </p:nvSpPr>
        <p:spPr>
          <a:xfrm>
            <a:off x="3429000" y="1762125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Superstore Marketing Campaign Performance Dashboard</a:t>
            </a:r>
          </a:p>
        </p:txBody>
      </p:sp>
    </p:spTree>
    <p:extLst>
      <p:ext uri="{BB962C8B-B14F-4D97-AF65-F5344CB8AC3E}">
        <p14:creationId xmlns:p14="http://schemas.microsoft.com/office/powerpoint/2010/main" val="75657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EFDEA15-39FC-4FC5-84F3-083BED5B047E}"/>
              </a:ext>
            </a:extLst>
          </p:cNvPr>
          <p:cNvSpPr>
            <a:spLocks noGrp="1"/>
          </p:cNvSpPr>
          <p:nvPr/>
        </p:nvSpPr>
        <p:spPr>
          <a:xfrm>
            <a:off x="390525" y="106739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10000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dirty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Recommendation: focus spend where response compounds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103B9-8A4F-4A9A-9858-AFB34B618CBC}"/>
              </a:ext>
            </a:extLst>
          </p:cNvPr>
          <p:cNvSpPr>
            <a:spLocks noGrp="1"/>
          </p:cNvSpPr>
          <p:nvPr/>
        </p:nvSpPr>
        <p:spPr>
          <a:xfrm>
            <a:off x="409575" y="10668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business should move from broad outreach to segmented campaign execution.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4376C-FEB7-4F38-9BC1-A561C19E5C89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60FBC-4D2C-48EC-AFDB-04BE5AC53788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60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81"/>
          </a:bodyPr>
          <a:lstStyle/>
          <a:p>
            <a:pPr algn="l">
              <a:buNone/>
              <a:def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9BEE0-B6BC-4ACB-9D48-A48996744DC8}"/>
              </a:ext>
            </a:extLst>
          </p:cNvPr>
          <p:cNvSpPr>
            <a:spLocks noGrp="1"/>
          </p:cNvSpPr>
          <p:nvPr/>
        </p:nvSpPr>
        <p:spPr>
          <a:xfrm>
            <a:off x="1466850" y="18478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Prioritize recent high-value Catalog/Web 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FF6A-1F38-49A2-8922-69AEA1A3DEA3}"/>
              </a:ext>
            </a:extLst>
          </p:cNvPr>
          <p:cNvSpPr>
            <a:spLocks noGrp="1"/>
          </p:cNvSpPr>
          <p:nvPr/>
        </p:nvSpPr>
        <p:spPr>
          <a:xfrm>
            <a:off x="1466850" y="22098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Start with the highest response audience for premium offers and personalized follow-up.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021CA-4B4A-4B9C-B21C-657141FDB9D7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103632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E83ED-B590-4B00-A72C-FB85EDB422F9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60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81"/>
          </a:bodyPr>
          <a:lstStyle/>
          <a:p>
            <a:pPr algn="l">
              <a:buNone/>
              <a:def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7C70F-2F3B-48EB-AEB4-38653BB84953}"/>
              </a:ext>
            </a:extLst>
          </p:cNvPr>
          <p:cNvSpPr>
            <a:spLocks noGrp="1"/>
          </p:cNvSpPr>
          <p:nvPr/>
        </p:nvSpPr>
        <p:spPr>
          <a:xfrm>
            <a:off x="1466850" y="3038475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focused win-back offers for high-value at-risk customers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A2CA19-0956-48D9-9D82-4D502CFE3A33}"/>
              </a:ext>
            </a:extLst>
          </p:cNvPr>
          <p:cNvSpPr>
            <a:spLocks noGrp="1"/>
          </p:cNvSpPr>
          <p:nvPr/>
        </p:nvSpPr>
        <p:spPr>
          <a:xfrm>
            <a:off x="1466850" y="3400425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 not ignore high spenders with longer recency; use urgency, loyalty, or bundle offers.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658082-A8A8-4A93-B564-4F4CEBF31E46}"/>
              </a:ext>
            </a:extLst>
          </p:cNvPr>
          <p:cNvSpPr>
            <a:spLocks noGrp="1"/>
          </p:cNvSpPr>
          <p:nvPr/>
        </p:nvSpPr>
        <p:spPr>
          <a:xfrm>
            <a:off x="666750" y="3971925"/>
            <a:ext cx="103632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BBD5E-7FFE-4030-934D-6612976D9A89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60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81"/>
          </a:bodyPr>
          <a:lstStyle/>
          <a:p>
            <a:pPr algn="l">
              <a:buNone/>
              <a:def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3B3CE-1EB6-49D7-8C0D-D65A3C1694FE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78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Limit spend on dormant and low-spend customers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4526D-8336-4881-97D6-91AF714CB7C7}"/>
              </a:ext>
            </a:extLst>
          </p:cNvPr>
          <p:cNvSpPr>
            <a:spLocks noGrp="1"/>
          </p:cNvSpPr>
          <p:nvPr/>
        </p:nvSpPr>
        <p:spPr>
          <a:xfrm>
            <a:off x="1466850" y="45910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low-cost channels or test-only budgets until these groups show stronger intent.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E63BF-75D2-47FA-8156-7E5EBDAB41FE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10363200" cy="9525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74BF37-646D-4613-91CE-55E14C4AD7E1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363200" cy="514350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F5173-6E68-4FCE-B196-D3E1BAD3E4F8}"/>
              </a:ext>
            </a:extLst>
          </p:cNvPr>
          <p:cNvSpPr>
            <a:spLocks noGrp="1"/>
          </p:cNvSpPr>
          <p:nvPr/>
        </p:nvSpPr>
        <p:spPr>
          <a:xfrm>
            <a:off x="895350" y="5705475"/>
            <a:ext cx="988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7500" lnSpcReduction="10000"/>
          </a:bodyPr>
          <a:lstStyle/>
          <a:p>
            <a:pPr algn="l">
              <a:buNone/>
              <a:defRPr sz="1500" b="1">
                <a:solidFill>
                  <a:srgbClr val="065F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5F46"/>
                </a:solidFill>
                <a:latin typeface="Helvetica Neue"/>
                <a:ea typeface="Helvetica Neue"/>
                <a:cs typeface="Helvetica Neue"/>
              </a:rPr>
              <a:t>Expected impact: higher conversion per campaign spend, lower wasted outreach, and a clear audience for the next A/B test.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E1545D-C4BF-4434-B720-92E2CD494E3C}"/>
              </a:ext>
            </a:extLst>
          </p:cNvPr>
          <p:cNvSpPr>
            <a:spLocks noGrp="1"/>
          </p:cNvSpPr>
          <p:nvPr/>
        </p:nvSpPr>
        <p:spPr>
          <a:xfrm>
            <a:off x="390525" y="6334125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Source: Superstore Marketing Campaign dataset, Python analysis,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5809834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1591</Words>
  <Application>Microsoft Office PowerPoint</Application>
  <DocSecurity>0</DocSecurity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Avikansh</cp:lastModifiedBy>
  <cp:revision>2</cp:revision>
  <dcterms:created xsi:type="dcterms:W3CDTF">2026-08-03T07:38:53Z</dcterms:created>
  <dcterms:modified xsi:type="dcterms:W3CDTF">2026-08-03T09:09:43Z</dcterms:modified>
</cp:coreProperties>
</file>